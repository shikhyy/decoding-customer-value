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Decoding Customer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SQL-Driven Retention Strategy for a D2C Fashion Brand</a:t>
            </a:r>
          </a:p>
          <a:p/>
          <a:p>
            <a:r>
              <a:t>June 2026</a:t>
            </a:r>
          </a:p>
          <a:p>
            <a:r>
              <a:t>Analysis of 3,900 Customers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Findings &amp; Strategic Direction</a:t>
            </a:r>
          </a:p>
          <a:p>
            <a:pPr lvl="1"/>
            <a:r>
              <a:t>1. Promo Dependency is High but Misdirected: 43% of purchases use promos, but loyal buyers spend the same organically.</a:t>
            </a:r>
          </a:p>
          <a:p>
            <a:pPr lvl="1"/>
            <a:r>
              <a:t>2. Organic Geographic Pull Exists: States like Arizona and Virginia show high spend with low promo reliance.</a:t>
            </a:r>
          </a:p>
          <a:p>
            <a:pPr lvl="1"/>
            <a:r>
              <a:t>3. Three Segments are Margin Drains: Summer Clothing, Summer Footwear, and Fall Outerwear have 45%+ promo dependency and high low-value concentration.</a:t>
            </a:r>
          </a:p>
          <a:p>
            <a:pPr>
              <a:spcBef>
                <a:spcPts val="1400"/>
              </a:spcBef>
              <a:defRPr b="1"/>
            </a:pPr>
            <a:r>
              <a:t>Recommendation: Phase out public discounts in sunset segments. Shift acquisition spend to Male Gen X/Boomers in organic geographies using Accessories as the hook.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Engineering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no raw loyalty/churn labels, we engineered key constructs:</a:t>
            </a:r>
          </a:p>
          <a:p>
            <a:pPr lvl="1"/>
            <a:r>
              <a:t>Promo Dependency Score: Measures reliance on discounts/promos (0 = organic, 1 = fully incentivised).</a:t>
            </a:r>
          </a:p>
          <a:p>
            <a:pPr lvl="1"/>
            <a:r>
              <a:t>Composite Value Score: 40% Tenure + 40% Frequency + 20% Spend. Used to segment High, Medium, and Low value tiers.</a:t>
            </a:r>
          </a:p>
          <a:p>
            <a:pPr lvl="1"/>
            <a:r>
              <a:t>Loyalty Validation: Volume-Based Loyalty (top 25% of past purchases) outperformed Frequency-Based metrics in correlating positively with purchase amount.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1: Promo Dependency vs True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Loyalty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Promo Reliance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Avg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Avg Tenure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Loyal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(Organic)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43.9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Loyal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(Incentivised)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44.1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Non-Loyal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(Organic)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1,667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$59.98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t>Non-Loyal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(Incentivised)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$59.01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>
                <a:solidFill>
                  <a:srgbClr val="0066CC"/>
                </a:solidFill>
              </a:defRPr>
            </a:pPr>
            <a:r>
              <a:t>Takeaway: Loyal customers spend equally regardless of promo usage. Discounts are subsidising purchases that would have happened anyway.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2: Geographic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mapped average spend vs. promotional dependency to identify 'Organic Pull' states.</a:t>
            </a:r>
          </a:p>
          <a:p>
            <a:pPr lvl="1"/>
            <a:r>
              <a:t>Criteria: Average spend &gt; $60 AND Promo dependency &lt; 40%</a:t>
            </a:r>
          </a:p>
          <a:p>
            <a:pPr lvl="1">
              <a:defRPr b="1"/>
            </a:pPr>
            <a:r>
              <a:t>Priority Targets: Arizona, Michigan, Montana, Rhode Island, South Dakota</a:t>
            </a:r>
          </a:p>
          <a:p>
            <a:pPr lvl="1"/>
            <a:r>
              <a:t>These markets have never been deliberately targeted but show high organic affinity. Arizona alone averages $66.55 per transaction with only 33.8% promo dependency.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 3: Sunset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% Low-Value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Avg Promo Dependency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Clothing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45.1%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Footwear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45.6%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Outerwear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45.5%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>
                <a:solidFill>
                  <a:srgbClr val="CC0000"/>
                </a:solidFill>
              </a:defRPr>
            </a:pPr>
            <a:r>
              <a:t>Takeaway: These three segments combine high promo reliance with high low-value customer concentration. They are prime candidates for promotional sunsetting.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Playbook: Promotional Sunset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Action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1. A/B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 1–2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50% of traffic sees no public discount in sunset segments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2. Evaluate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 3–4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If test margin &gt; control margin, expand to 80%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3. Full Sunset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Week 5–6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Remove all % discounts. Replace with 48h cart-abandon free shipping trigger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Trade-off: Removing public discounts may cause a 10–15% volume drop as bargain hunters churn, but net margin per transaction will rise by 15-20%.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Ideal Customer Profile (ICP)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acquisition profile based on highest-value cluster:</a:t>
            </a:r>
          </a:p>
          <a:p>
            <a:pPr lvl="1"/>
            <a:r>
              <a:t>Demographics: Male, Gen X (36-50) and Boomers (51+)</a:t>
            </a:r>
          </a:p>
          <a:p>
            <a:pPr lvl="1"/>
            <a:r>
              <a:t>Geography: Arizona, Virginia, Tennessee, Michigan</a:t>
            </a:r>
          </a:p>
          <a:p>
            <a:pPr lvl="1"/>
            <a:r>
              <a:t>Entry Category: Accessories (serves as the strongest retention anchor)</a:t>
            </a:r>
          </a:p>
          <a:p>
            <a:pPr lvl="1"/>
            <a:r>
              <a:t>Behavior: Weekly/Bi-Weekly purchase frequency, averaging $76-$85 per transaction</a:t>
            </a:r>
          </a:p>
          <a:p>
            <a:pPr lvl="1"/>
            <a:r>
              <a:t>Promo Dependency: Low — buys organically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